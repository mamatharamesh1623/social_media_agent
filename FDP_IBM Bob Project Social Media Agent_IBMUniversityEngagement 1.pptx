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xPhXPwDH0dZWZyR0EYuf1h+xe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D24245F-50CF-4195-ADC4-D5F02C6E03FB}">
  <a:tblStyle styleId="{ED24245F-50CF-4195-ADC4-D5F02C6E03F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828b64d48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g3f828b64d48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828b64d4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f828b64d4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827b20e55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827b20e5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github.com/mamatharamesh1623/Social_Media_Agen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IBM 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3000000" cy="3000000"/>
        </p:xfrm>
        <a:graphic>
          <a:graphicData uri="http://schemas.openxmlformats.org/drawingml/2006/table">
            <a:tbl>
              <a:tblPr>
                <a:noFill/>
                <a:tableStyleId>{ED24245F-50CF-4195-ADC4-D5F02C6E03FB}</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a:t>Mamatha R</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mamatharmanjunath@gmail.com</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9663975656</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1206164" y="1460724"/>
            <a:ext cx="102804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a:t>
            </a:r>
            <a:r>
              <a:rPr b="1" lang="en-US" sz="2400">
                <a:solidFill>
                  <a:schemeClr val="dk1"/>
                </a:solidFill>
              </a:rPr>
              <a:t>Social Media Analytics</a:t>
            </a:r>
            <a:r>
              <a:rPr lang="en-US" sz="1100">
                <a:solidFill>
                  <a:schemeClr val="dk1"/>
                </a:solidFill>
              </a:rPr>
              <a:t> </a:t>
            </a:r>
            <a:endParaRPr b="1" sz="2400">
              <a:solidFill>
                <a:schemeClr val="dk1"/>
              </a:solidFill>
              <a:highlight>
                <a:srgbClr val="FFFF00"/>
              </a:highlight>
            </a:endParaRPr>
          </a:p>
          <a:p>
            <a:pPr indent="0" lvl="0" marL="0" marR="0" rtl="0" algn="l">
              <a:lnSpc>
                <a:spcPct val="100000"/>
              </a:lnSpc>
              <a:spcBef>
                <a:spcPts val="0"/>
              </a:spcBef>
              <a:spcAft>
                <a:spcPts val="0"/>
              </a:spcAft>
              <a:buNone/>
            </a:pPr>
            <a:r>
              <a:t/>
            </a:r>
            <a:endParaRPr b="1" sz="2400">
              <a:highlight>
                <a:srgbClr val="FFFF00"/>
              </a:highlight>
            </a:endParaRPr>
          </a:p>
        </p:txBody>
      </p:sp>
      <p:sp>
        <p:nvSpPr>
          <p:cNvPr id="88" name="Google Shape;88;p2"/>
          <p:cNvSpPr txBox="1"/>
          <p:nvPr/>
        </p:nvSpPr>
        <p:spPr>
          <a:xfrm>
            <a:off x="1206162" y="551965"/>
            <a:ext cx="95811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 </a:t>
            </a:r>
            <a:r>
              <a:rPr b="1" lang="en-US" sz="2600">
                <a:solidFill>
                  <a:schemeClr val="dk1"/>
                </a:solidFill>
                <a:latin typeface="Times New Roman"/>
                <a:ea typeface="Times New Roman"/>
                <a:cs typeface="Times New Roman"/>
                <a:sym typeface="Times New Roman"/>
              </a:rPr>
              <a:t>Social Media Agen</a:t>
            </a:r>
            <a:r>
              <a:rPr b="1" lang="en-US" sz="2500">
                <a:solidFill>
                  <a:schemeClr val="dk1"/>
                </a:solidFill>
                <a:latin typeface="Times New Roman"/>
                <a:ea typeface="Times New Roman"/>
                <a:cs typeface="Times New Roman"/>
                <a:sym typeface="Times New Roman"/>
              </a:rPr>
              <a:t>t</a:t>
            </a:r>
            <a:endParaRPr b="1" sz="25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sz="2400">
              <a:highlight>
                <a:srgbClr val="FFFF00"/>
              </a:highlight>
            </a:endParaRPr>
          </a:p>
        </p:txBody>
      </p:sp>
      <p:sp>
        <p:nvSpPr>
          <p:cNvPr id="89" name="Google Shape;89;p2"/>
          <p:cNvSpPr txBox="1"/>
          <p:nvPr/>
        </p:nvSpPr>
        <p:spPr>
          <a:xfrm>
            <a:off x="1211005" y="5210667"/>
            <a:ext cx="645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pic>
        <p:nvPicPr>
          <p:cNvPr id="90" name="Google Shape;90;p2"/>
          <p:cNvPicPr preferRelativeResize="0"/>
          <p:nvPr/>
        </p:nvPicPr>
        <p:blipFill>
          <a:blip r:embed="rId3">
            <a:alphaModFix/>
          </a:blip>
          <a:stretch>
            <a:fillRect/>
          </a:stretch>
        </p:blipFill>
        <p:spPr>
          <a:xfrm>
            <a:off x="4305700" y="3796425"/>
            <a:ext cx="711748" cy="9045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4"/>
          <p:cNvSpPr txBox="1"/>
          <p:nvPr/>
        </p:nvSpPr>
        <p:spPr>
          <a:xfrm>
            <a:off x="405925" y="1078750"/>
            <a:ext cx="11647500" cy="5451300"/>
          </a:xfrm>
          <a:prstGeom prst="rect">
            <a:avLst/>
          </a:prstGeom>
          <a:noFill/>
          <a:ln>
            <a:noFill/>
          </a:ln>
        </p:spPr>
        <p:txBody>
          <a:bodyPr anchorCtr="0" anchor="t" bIns="45700" lIns="91425" spcFirstLastPara="1" rIns="91425" wrap="square" tIns="45700">
            <a:spAutoFit/>
          </a:bodyPr>
          <a:lstStyle/>
          <a:p>
            <a:pPr indent="0" lvl="0" marL="0" rtl="0" algn="l">
              <a:lnSpc>
                <a:spcPct val="105000"/>
              </a:lnSpc>
              <a:spcBef>
                <a:spcPts val="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The Challenge</a:t>
            </a:r>
            <a:endParaRPr b="1" sz="1800">
              <a:solidFill>
                <a:schemeClr val="dk1"/>
              </a:solidFill>
              <a:latin typeface="Times New Roman"/>
              <a:ea typeface="Times New Roman"/>
              <a:cs typeface="Times New Roman"/>
              <a:sym typeface="Times New Roman"/>
            </a:endParaRPr>
          </a:p>
          <a:p>
            <a:pPr indent="0" lvl="0" marL="0" rtl="0" algn="just">
              <a:lnSpc>
                <a:spcPct val="105000"/>
              </a:lnSpc>
              <a:spcBef>
                <a:spcPts val="8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Brands, influencers, and organizations struggle to keep up with the </a:t>
            </a:r>
            <a:r>
              <a:rPr b="1" lang="en-US" sz="1800">
                <a:solidFill>
                  <a:schemeClr val="dk1"/>
                </a:solidFill>
                <a:latin typeface="Times New Roman"/>
                <a:ea typeface="Times New Roman"/>
                <a:cs typeface="Times New Roman"/>
                <a:sym typeface="Times New Roman"/>
              </a:rPr>
              <a:t>fast-paced and fragmented world of social media</a:t>
            </a:r>
            <a:r>
              <a:rPr lang="en-US" sz="1800">
                <a:solidFill>
                  <a:schemeClr val="dk1"/>
                </a:solidFill>
                <a:latin typeface="Times New Roman"/>
                <a:ea typeface="Times New Roman"/>
                <a:cs typeface="Times New Roman"/>
                <a:sym typeface="Times New Roman"/>
              </a:rPr>
              <a:t>.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t>
            </a:r>
            <a:r>
              <a:rPr b="1" lang="en-US" sz="1800">
                <a:solidFill>
                  <a:schemeClr val="dk1"/>
                </a:solidFill>
                <a:latin typeface="Times New Roman"/>
                <a:ea typeface="Times New Roman"/>
                <a:cs typeface="Times New Roman"/>
                <a:sym typeface="Times New Roman"/>
              </a:rPr>
              <a:t>analyze, predict, and recommend actions in real time</a:t>
            </a:r>
            <a:r>
              <a:rPr lang="en-US"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0" lvl="0" marL="0" rtl="0" algn="l">
              <a:lnSpc>
                <a:spcPct val="105000"/>
              </a:lnSpc>
              <a:spcBef>
                <a:spcPts val="800"/>
              </a:spcBef>
              <a:spcAft>
                <a:spcPts val="0"/>
              </a:spcAft>
              <a:buClr>
                <a:schemeClr val="dk1"/>
              </a:buClr>
              <a:buSzPts val="1100"/>
              <a:buFont typeface="Arial"/>
              <a:buNone/>
            </a:pPr>
            <a:r>
              <a:rPr b="1" lang="en-US" sz="1800">
                <a:solidFill>
                  <a:schemeClr val="dk1"/>
                </a:solidFill>
                <a:latin typeface="Times New Roman"/>
                <a:ea typeface="Times New Roman"/>
                <a:cs typeface="Times New Roman"/>
                <a:sym typeface="Times New Roman"/>
              </a:rPr>
              <a:t>The Objective</a:t>
            </a:r>
            <a:endParaRPr b="1" sz="1800">
              <a:solidFill>
                <a:schemeClr val="dk1"/>
              </a:solidFill>
              <a:latin typeface="Times New Roman"/>
              <a:ea typeface="Times New Roman"/>
              <a:cs typeface="Times New Roman"/>
              <a:sym typeface="Times New Roman"/>
            </a:endParaRPr>
          </a:p>
          <a:p>
            <a:pPr indent="-342900" lvl="0" marL="342900" rtl="0" algn="just">
              <a:lnSpc>
                <a:spcPct val="105000"/>
              </a:lnSpc>
              <a:spcBef>
                <a:spcPts val="80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Build an </a:t>
            </a:r>
            <a:r>
              <a:rPr b="1" lang="en-US" sz="1800">
                <a:solidFill>
                  <a:schemeClr val="dk1"/>
                </a:solidFill>
                <a:latin typeface="Times New Roman"/>
                <a:ea typeface="Times New Roman"/>
                <a:cs typeface="Times New Roman"/>
                <a:sym typeface="Times New Roman"/>
              </a:rPr>
              <a:t>agentic AI application</a:t>
            </a:r>
            <a:r>
              <a:rPr lang="en-US" sz="1800">
                <a:solidFill>
                  <a:schemeClr val="dk1"/>
                </a:solidFill>
                <a:latin typeface="Times New Roman"/>
                <a:ea typeface="Times New Roman"/>
                <a:cs typeface="Times New Roman"/>
                <a:sym typeface="Times New Roman"/>
              </a:rPr>
              <a:t> that acts as an intelligent social media companion. The solution should:</a:t>
            </a:r>
            <a:endParaRPr sz="1800">
              <a:solidFill>
                <a:schemeClr val="dk1"/>
              </a:solidFill>
              <a:latin typeface="Times New Roman"/>
              <a:ea typeface="Times New Roman"/>
              <a:cs typeface="Times New Roman"/>
              <a:sym typeface="Times New Roman"/>
            </a:endParaRPr>
          </a:p>
          <a:p>
            <a:pPr indent="-342900" lvl="0" marL="342900" rtl="0" algn="just">
              <a:lnSpc>
                <a:spcPct val="10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1.     </a:t>
            </a:r>
            <a:r>
              <a:rPr b="1" lang="en-US" sz="1800">
                <a:solidFill>
                  <a:schemeClr val="dk1"/>
                </a:solidFill>
                <a:latin typeface="Times New Roman"/>
                <a:ea typeface="Times New Roman"/>
                <a:cs typeface="Times New Roman"/>
                <a:sym typeface="Times New Roman"/>
              </a:rPr>
              <a:t>Fuse Multichannel Data :-</a:t>
            </a:r>
            <a:r>
              <a:rPr lang="en-US" sz="1800">
                <a:solidFill>
                  <a:schemeClr val="dk1"/>
                </a:solidFill>
                <a:latin typeface="Times New Roman"/>
                <a:ea typeface="Times New Roman"/>
                <a:cs typeface="Times New Roman"/>
                <a:sym typeface="Times New Roman"/>
              </a:rPr>
              <a:t> Collect and synthesize content, comments, hashtags, and competitor posts from platforms like X, LinkedIn, Instagram, and Facebook into unified insights.</a:t>
            </a:r>
            <a:endParaRPr sz="1800">
              <a:solidFill>
                <a:schemeClr val="dk1"/>
              </a:solidFill>
              <a:latin typeface="Times New Roman"/>
              <a:ea typeface="Times New Roman"/>
              <a:cs typeface="Times New Roman"/>
              <a:sym typeface="Times New Roman"/>
            </a:endParaRPr>
          </a:p>
          <a:p>
            <a:pPr indent="-342900" lvl="0" marL="342900" rtl="0" algn="just">
              <a:lnSpc>
                <a:spcPct val="10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2.     </a:t>
            </a:r>
            <a:r>
              <a:rPr b="1" lang="en-US" sz="1800">
                <a:solidFill>
                  <a:schemeClr val="dk1"/>
                </a:solidFill>
                <a:latin typeface="Times New Roman"/>
                <a:ea typeface="Times New Roman"/>
                <a:cs typeface="Times New Roman"/>
                <a:sym typeface="Times New Roman"/>
              </a:rPr>
              <a:t>Enable Multimodal Interaction :-</a:t>
            </a:r>
            <a:r>
              <a:rPr lang="en-US" sz="1800">
                <a:solidFill>
                  <a:schemeClr val="dk1"/>
                </a:solidFill>
                <a:latin typeface="Times New Roman"/>
                <a:ea typeface="Times New Roman"/>
                <a:cs typeface="Times New Roman"/>
                <a:sym typeface="Times New Roman"/>
              </a:rPr>
              <a:t> Accept user inputs (text, images, or voice prompts) and generate creative post drafts, captions, or campaign ideas aligned with brand tone.</a:t>
            </a:r>
            <a:endParaRPr sz="1800">
              <a:solidFill>
                <a:schemeClr val="dk1"/>
              </a:solidFill>
              <a:latin typeface="Times New Roman"/>
              <a:ea typeface="Times New Roman"/>
              <a:cs typeface="Times New Roman"/>
              <a:sym typeface="Times New Roman"/>
            </a:endParaRPr>
          </a:p>
          <a:p>
            <a:pPr indent="-342900" lvl="0" marL="342900" rtl="0" algn="just">
              <a:lnSpc>
                <a:spcPct val="10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3.     </a:t>
            </a:r>
            <a:r>
              <a:rPr b="1" lang="en-US" sz="1800">
                <a:solidFill>
                  <a:schemeClr val="dk1"/>
                </a:solidFill>
                <a:latin typeface="Times New Roman"/>
                <a:ea typeface="Times New Roman"/>
                <a:cs typeface="Times New Roman"/>
                <a:sym typeface="Times New Roman"/>
              </a:rPr>
              <a:t>Create a Predictive &amp; Agentic Layer :-</a:t>
            </a:r>
            <a:r>
              <a:rPr lang="en-US" sz="1800">
                <a:solidFill>
                  <a:schemeClr val="dk1"/>
                </a:solidFill>
                <a:latin typeface="Times New Roman"/>
                <a:ea typeface="Times New Roman"/>
                <a:cs typeface="Times New Roman"/>
                <a:sym typeface="Times New Roman"/>
              </a:rPr>
              <a:t> Forecast trending hashtags, audience sentiment shifts, and competitor engagement patterns while suggesting the best posting schedules.</a:t>
            </a:r>
            <a:endParaRPr sz="1800">
              <a:solidFill>
                <a:schemeClr val="dk1"/>
              </a:solidFill>
              <a:latin typeface="Times New Roman"/>
              <a:ea typeface="Times New Roman"/>
              <a:cs typeface="Times New Roman"/>
              <a:sym typeface="Times New Roman"/>
            </a:endParaRPr>
          </a:p>
          <a:p>
            <a:pPr indent="-342900" lvl="0" marL="342900" rtl="0" algn="just">
              <a:lnSpc>
                <a:spcPct val="10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4.     </a:t>
            </a:r>
            <a:r>
              <a:rPr b="1" lang="en-US" sz="1800">
                <a:solidFill>
                  <a:schemeClr val="dk1"/>
                </a:solidFill>
                <a:latin typeface="Times New Roman"/>
                <a:ea typeface="Times New Roman"/>
                <a:cs typeface="Times New Roman"/>
                <a:sym typeface="Times New Roman"/>
              </a:rPr>
              <a:t>Visualize Social Media Pulse :-</a:t>
            </a:r>
            <a:r>
              <a:rPr lang="en-US" sz="1800">
                <a:solidFill>
                  <a:schemeClr val="dk1"/>
                </a:solidFill>
                <a:latin typeface="Times New Roman"/>
                <a:ea typeface="Times New Roman"/>
                <a:cs typeface="Times New Roman"/>
                <a:sym typeface="Times New Roman"/>
              </a:rPr>
              <a:t> Provide a dashboard with real-time analytics—engagement trends, influencer mapping, sentiment tracking, and campaign performance forecasts.</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None/>
            </a:pPr>
            <a:r>
              <a:t/>
            </a:r>
            <a:endParaRPr b="1" sz="1900"/>
          </a:p>
          <a:p>
            <a:pPr indent="0" lvl="0" marL="0" marR="0" rtl="0" algn="l">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 </a:t>
            </a:r>
            <a:r>
              <a:rPr b="1" lang="en-US" sz="2200">
                <a:solidFill>
                  <a:schemeClr val="dk1"/>
                </a:solidFill>
                <a:latin typeface="Times New Roman"/>
                <a:ea typeface="Times New Roman"/>
                <a:cs typeface="Times New Roman"/>
                <a:sym typeface="Times New Roman"/>
              </a:rPr>
              <a:t>Social Media Agent</a:t>
            </a:r>
            <a:endParaRPr b="1" i="0" sz="29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f828b64d48_0_7"/>
          <p:cNvSpPr txBox="1"/>
          <p:nvPr/>
        </p:nvSpPr>
        <p:spPr>
          <a:xfrm>
            <a:off x="576072" y="1234440"/>
            <a:ext cx="10607100" cy="359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AI-Powered Social Media Agent</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Collects</a:t>
            </a:r>
            <a:r>
              <a:rPr lang="en-US">
                <a:solidFill>
                  <a:schemeClr val="dk1"/>
                </a:solidFill>
              </a:rPr>
              <a:t> posts, comments, hashtags, and competitor data from </a:t>
            </a:r>
            <a:r>
              <a:rPr b="1" lang="en-US">
                <a:solidFill>
                  <a:schemeClr val="dk1"/>
                </a:solidFill>
              </a:rPr>
              <a:t>X, LinkedIn, Instagram, and Facebook</a:t>
            </a:r>
            <a:r>
              <a:rPr lang="en-US">
                <a:solidFill>
                  <a:schemeClr val="dk1"/>
                </a:solidFill>
              </a:rPr>
              <a: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Generates</a:t>
            </a:r>
            <a:r>
              <a:rPr lang="en-US">
                <a:solidFill>
                  <a:schemeClr val="dk1"/>
                </a:solidFill>
              </a:rPr>
              <a:t> AI-powered posts, captions, and campaign ideas using </a:t>
            </a:r>
            <a:r>
              <a:rPr b="1" lang="en-US">
                <a:solidFill>
                  <a:schemeClr val="dk1"/>
                </a:solidFill>
              </a:rPr>
              <a:t>text, image, or voice</a:t>
            </a:r>
            <a:r>
              <a:rPr lang="en-US">
                <a:solidFill>
                  <a:schemeClr val="dk1"/>
                </a:solidFill>
              </a:rPr>
              <a:t> inputs.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Analyzes</a:t>
            </a:r>
            <a:r>
              <a:rPr lang="en-US">
                <a:solidFill>
                  <a:schemeClr val="dk1"/>
                </a:solidFill>
              </a:rPr>
              <a:t> audience sentiment and engagement in real time.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Predicts</a:t>
            </a:r>
            <a:r>
              <a:rPr lang="en-US">
                <a:solidFill>
                  <a:schemeClr val="dk1"/>
                </a:solidFill>
              </a:rPr>
              <a:t> trending hashtags, best posting times, and campaign performance.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Monitors</a:t>
            </a:r>
            <a:r>
              <a:rPr lang="en-US">
                <a:solidFill>
                  <a:schemeClr val="dk1"/>
                </a:solidFill>
              </a:rPr>
              <a:t> competitor strategies and engagement patterns.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Visualizes</a:t>
            </a:r>
            <a:r>
              <a:rPr lang="en-US">
                <a:solidFill>
                  <a:schemeClr val="dk1"/>
                </a:solidFill>
              </a:rPr>
              <a:t> insights through an interactive analytics dashboard.</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Built using:</a:t>
            </a:r>
            <a:r>
              <a:rPr lang="en-US">
                <a:solidFill>
                  <a:schemeClr val="dk1"/>
                </a:solidFill>
              </a:rPr>
              <a:t> IBM Bob, IBM Granite Models, IBM watsonx.ai, IBM Cloud, RAG, and Vector Database.</a:t>
            </a:r>
            <a:endParaRPr>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0" marR="0" rtl="0" algn="l">
              <a:lnSpc>
                <a:spcPct val="100000"/>
              </a:lnSpc>
              <a:spcBef>
                <a:spcPts val="1200"/>
              </a:spcBef>
              <a:spcAft>
                <a:spcPts val="0"/>
              </a:spcAft>
              <a:buNone/>
            </a:pPr>
            <a:r>
              <a:t/>
            </a:r>
            <a:endParaRPr b="1"/>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 name="Google Shape;102;g3f828b64d48_0_7"/>
          <p:cNvSpPr txBox="1"/>
          <p:nvPr/>
        </p:nvSpPr>
        <p:spPr>
          <a:xfrm>
            <a:off x="576072" y="704088"/>
            <a:ext cx="721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r>
              <a:rPr b="1" i="0" lang="en-US" sz="2400" u="none" cap="none" strike="noStrike">
                <a:solidFill>
                  <a:srgbClr val="000000"/>
                </a:solidFill>
                <a:latin typeface="Arial"/>
                <a:ea typeface="Arial"/>
                <a:cs typeface="Arial"/>
                <a:sym typeface="Arial"/>
              </a:rPr>
              <a: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5"/>
          <p:cNvSpPr txBox="1"/>
          <p:nvPr/>
        </p:nvSpPr>
        <p:spPr>
          <a:xfrm>
            <a:off x="576072" y="1234440"/>
            <a:ext cx="10607100" cy="550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AI-Powered Social Media Agent</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Collects</a:t>
            </a:r>
            <a:r>
              <a:rPr lang="en-US">
                <a:solidFill>
                  <a:schemeClr val="dk1"/>
                </a:solidFill>
              </a:rPr>
              <a:t> posts, comments, hashtags, and competitor data from </a:t>
            </a:r>
            <a:r>
              <a:rPr b="1" lang="en-US">
                <a:solidFill>
                  <a:schemeClr val="dk1"/>
                </a:solidFill>
              </a:rPr>
              <a:t>X, LinkedIn, Instagram, and Facebook</a:t>
            </a:r>
            <a:r>
              <a:rPr lang="en-US">
                <a:solidFill>
                  <a:schemeClr val="dk1"/>
                </a:solidFill>
              </a:rPr>
              <a: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Generates</a:t>
            </a:r>
            <a:r>
              <a:rPr lang="en-US">
                <a:solidFill>
                  <a:schemeClr val="dk1"/>
                </a:solidFill>
              </a:rPr>
              <a:t> AI-powered posts, captions, and campaign ideas using </a:t>
            </a:r>
            <a:r>
              <a:rPr b="1" lang="en-US">
                <a:solidFill>
                  <a:schemeClr val="dk1"/>
                </a:solidFill>
              </a:rPr>
              <a:t>text, image, or voice</a:t>
            </a:r>
            <a:r>
              <a:rPr lang="en-US">
                <a:solidFill>
                  <a:schemeClr val="dk1"/>
                </a:solidFill>
              </a:rPr>
              <a:t> inputs.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Analyzes</a:t>
            </a:r>
            <a:r>
              <a:rPr lang="en-US">
                <a:solidFill>
                  <a:schemeClr val="dk1"/>
                </a:solidFill>
              </a:rPr>
              <a:t> audience sentiment and engagement in real time.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Predicts</a:t>
            </a:r>
            <a:r>
              <a:rPr lang="en-US">
                <a:solidFill>
                  <a:schemeClr val="dk1"/>
                </a:solidFill>
              </a:rPr>
              <a:t> trending hashtags, best posting times, and campaign performance.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Monitors</a:t>
            </a:r>
            <a:r>
              <a:rPr lang="en-US">
                <a:solidFill>
                  <a:schemeClr val="dk1"/>
                </a:solidFill>
              </a:rPr>
              <a:t> competitor strategies and engagement patterns.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Visualizes</a:t>
            </a:r>
            <a:r>
              <a:rPr lang="en-US">
                <a:solidFill>
                  <a:schemeClr val="dk1"/>
                </a:solidFill>
              </a:rPr>
              <a:t> insights through an interactive analytics dashboard.</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Built using:</a:t>
            </a:r>
            <a:r>
              <a:rPr lang="en-US">
                <a:solidFill>
                  <a:schemeClr val="dk1"/>
                </a:solidFill>
              </a:rPr>
              <a:t> IBM Bob, IBM Granite Models, IBM watsonx.ai, IBM Cloud, RAG, and Vector Database.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Multi-Agent Workflow</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rPr>
              <a:t>Content Generation Agent</a:t>
            </a:r>
            <a:r>
              <a:rPr lang="en-US">
                <a:solidFill>
                  <a:schemeClr val="dk1"/>
                </a:solidFill>
              </a:rPr>
              <a:t> – Creates posts, captions, and campaign ideas.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 </a:t>
            </a:r>
            <a:r>
              <a:rPr b="1" lang="en-US">
                <a:solidFill>
                  <a:schemeClr val="dk1"/>
                </a:solidFill>
              </a:rPr>
              <a:t>Trend Analysis Agent</a:t>
            </a:r>
            <a:r>
              <a:rPr lang="en-US">
                <a:solidFill>
                  <a:schemeClr val="dk1"/>
                </a:solidFill>
              </a:rPr>
              <a:t> – Identifies trending topics and hashtags.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 </a:t>
            </a:r>
            <a:r>
              <a:rPr b="1" lang="en-US">
                <a:solidFill>
                  <a:schemeClr val="dk1"/>
                </a:solidFill>
              </a:rPr>
              <a:t>Sentiment Analysis Agent</a:t>
            </a:r>
            <a:r>
              <a:rPr lang="en-US">
                <a:solidFill>
                  <a:schemeClr val="dk1"/>
                </a:solidFill>
              </a:rPr>
              <a:t> – Detects audience opinions and emotions.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 </a:t>
            </a:r>
            <a:r>
              <a:rPr b="1" lang="en-US">
                <a:solidFill>
                  <a:schemeClr val="dk1"/>
                </a:solidFill>
              </a:rPr>
              <a:t>Competitor Analysis Agent</a:t>
            </a:r>
            <a:r>
              <a:rPr lang="en-US">
                <a:solidFill>
                  <a:schemeClr val="dk1"/>
                </a:solidFill>
              </a:rPr>
              <a:t> – Tracks competitor content and engagement.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 </a:t>
            </a:r>
            <a:r>
              <a:rPr b="1" lang="en-US">
                <a:solidFill>
                  <a:schemeClr val="dk1"/>
                </a:solidFill>
              </a:rPr>
              <a:t>Recommendation Agent</a:t>
            </a:r>
            <a:r>
              <a:rPr lang="en-US">
                <a:solidFill>
                  <a:schemeClr val="dk1"/>
                </a:solidFill>
              </a:rPr>
              <a:t> – Suggests the best posting time and platform.</a:t>
            </a:r>
            <a:endParaRPr>
              <a:solidFill>
                <a:schemeClr val="dk1"/>
              </a:solidFill>
            </a:endParaRPr>
          </a:p>
          <a:p>
            <a:pPr indent="0" lvl="0" marL="0" marR="0" rtl="0" algn="l">
              <a:lnSpc>
                <a:spcPct val="100000"/>
              </a:lnSpc>
              <a:spcBef>
                <a:spcPts val="1200"/>
              </a:spcBef>
              <a:spcAft>
                <a:spcPts val="0"/>
              </a:spcAft>
              <a:buNone/>
            </a:pPr>
            <a:r>
              <a:t/>
            </a:r>
            <a:endParaRPr b="1"/>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 name="Google Shape;108;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r>
              <a:rPr b="1" i="0" lang="en-US" sz="2400" u="none" cap="none" strike="noStrike">
                <a:solidFill>
                  <a:srgbClr val="000000"/>
                </a:solidFill>
                <a:latin typeface="Arial"/>
                <a:ea typeface="Arial"/>
                <a:cs typeface="Arial"/>
                <a:sym typeface="Arial"/>
              </a:rPr>
              <a:t>-</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6"/>
          <p:cNvSpPr txBox="1"/>
          <p:nvPr/>
        </p:nvSpPr>
        <p:spPr>
          <a:xfrm>
            <a:off x="777240" y="254782"/>
            <a:ext cx="712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14" name="Google Shape;114;p36"/>
          <p:cNvSpPr txBox="1"/>
          <p:nvPr/>
        </p:nvSpPr>
        <p:spPr>
          <a:xfrm>
            <a:off x="740175" y="1153900"/>
            <a:ext cx="10515600" cy="4751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1700">
                <a:solidFill>
                  <a:schemeClr val="dk1"/>
                </a:solidFill>
              </a:rPr>
              <a:t>IBM Bob</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US" sz="1500">
                <a:solidFill>
                  <a:schemeClr val="dk1"/>
                </a:solidFill>
              </a:rPr>
              <a:t>Designs and orchestrates multi-agent workflows.</a:t>
            </a:r>
            <a:endParaRPr sz="1500">
              <a:solidFill>
                <a:schemeClr val="dk1"/>
              </a:solidFill>
            </a:endParaRPr>
          </a:p>
          <a:p>
            <a:pPr indent="0" lvl="0" marL="0" rtl="0" algn="l">
              <a:lnSpc>
                <a:spcPct val="115000"/>
              </a:lnSpc>
              <a:spcBef>
                <a:spcPts val="1400"/>
              </a:spcBef>
              <a:spcAft>
                <a:spcPts val="0"/>
              </a:spcAft>
              <a:buNone/>
            </a:pPr>
            <a:r>
              <a:rPr b="1" lang="en-US" sz="1700">
                <a:solidFill>
                  <a:schemeClr val="dk1"/>
                </a:solidFill>
              </a:rPr>
              <a:t>IBM Granite Models</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US" sz="1500">
                <a:solidFill>
                  <a:schemeClr val="dk1"/>
                </a:solidFill>
              </a:rPr>
              <a:t>Generates content, reasoning, and predictions.</a:t>
            </a:r>
            <a:endParaRPr sz="1500">
              <a:solidFill>
                <a:schemeClr val="dk1"/>
              </a:solidFill>
            </a:endParaRPr>
          </a:p>
          <a:p>
            <a:pPr indent="0" lvl="0" marL="0" rtl="0" algn="l">
              <a:lnSpc>
                <a:spcPct val="115000"/>
              </a:lnSpc>
              <a:spcBef>
                <a:spcPts val="1400"/>
              </a:spcBef>
              <a:spcAft>
                <a:spcPts val="0"/>
              </a:spcAft>
              <a:buNone/>
            </a:pPr>
            <a:r>
              <a:rPr b="1" lang="en-US" sz="1700">
                <a:solidFill>
                  <a:schemeClr val="dk1"/>
                </a:solidFill>
              </a:rPr>
              <a:t>IBM watsonx.ai</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US" sz="1500">
                <a:solidFill>
                  <a:schemeClr val="dk1"/>
                </a:solidFill>
              </a:rPr>
              <a:t>Deploys AI models and manages prompts &amp; governance.</a:t>
            </a:r>
            <a:endParaRPr sz="1500">
              <a:solidFill>
                <a:schemeClr val="dk1"/>
              </a:solidFill>
            </a:endParaRPr>
          </a:p>
          <a:p>
            <a:pPr indent="0" lvl="0" marL="0" rtl="0" algn="l">
              <a:lnSpc>
                <a:spcPct val="115000"/>
              </a:lnSpc>
              <a:spcBef>
                <a:spcPts val="1400"/>
              </a:spcBef>
              <a:spcAft>
                <a:spcPts val="0"/>
              </a:spcAft>
              <a:buNone/>
            </a:pPr>
            <a:r>
              <a:rPr b="1" lang="en-US" sz="1700">
                <a:solidFill>
                  <a:schemeClr val="dk1"/>
                </a:solidFill>
              </a:rPr>
              <a:t>IBM Cloud</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US" sz="1500">
                <a:solidFill>
                  <a:schemeClr val="dk1"/>
                </a:solidFill>
              </a:rPr>
              <a:t>Provides secure and scalable cloud infrastructure.</a:t>
            </a:r>
            <a:endParaRPr sz="1500">
              <a:solidFill>
                <a:schemeClr val="dk1"/>
              </a:solidFill>
            </a:endParaRPr>
          </a:p>
          <a:p>
            <a:pPr indent="0" lvl="0" marL="0" rtl="0" algn="l">
              <a:lnSpc>
                <a:spcPct val="115000"/>
              </a:lnSpc>
              <a:spcBef>
                <a:spcPts val="1400"/>
              </a:spcBef>
              <a:spcAft>
                <a:spcPts val="0"/>
              </a:spcAft>
              <a:buNone/>
            </a:pPr>
            <a:r>
              <a:rPr b="1" lang="en-US" sz="1700">
                <a:solidFill>
                  <a:schemeClr val="dk1"/>
                </a:solidFill>
              </a:rPr>
              <a:t>RAG (Retrieval-Augmented Generation)</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US" sz="1500">
                <a:solidFill>
                  <a:schemeClr val="dk1"/>
                </a:solidFill>
              </a:rPr>
              <a:t>Retrieves real-time social media trends and insights.</a:t>
            </a:r>
            <a:endParaRPr sz="1500">
              <a:solidFill>
                <a:schemeClr val="dk1"/>
              </a:solidFill>
            </a:endParaRPr>
          </a:p>
          <a:p>
            <a:pPr indent="0" lvl="0" marL="0" marR="0" rtl="0" algn="l">
              <a:lnSpc>
                <a:spcPct val="100000"/>
              </a:lnSpc>
              <a:spcBef>
                <a:spcPts val="1200"/>
              </a:spcBef>
              <a:spcAft>
                <a:spcPts val="0"/>
              </a:spcAft>
              <a:buNone/>
            </a:pPr>
            <a:r>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f828b64d48_0_0"/>
          <p:cNvSpPr txBox="1"/>
          <p:nvPr/>
        </p:nvSpPr>
        <p:spPr>
          <a:xfrm>
            <a:off x="777240" y="254782"/>
            <a:ext cx="712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20" name="Google Shape;120;g3f828b64d48_0_0"/>
          <p:cNvSpPr txBox="1"/>
          <p:nvPr/>
        </p:nvSpPr>
        <p:spPr>
          <a:xfrm>
            <a:off x="838200" y="1102025"/>
            <a:ext cx="10515600" cy="3457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US" sz="1600">
                <a:solidFill>
                  <a:schemeClr val="dk1"/>
                </a:solidFill>
              </a:rPr>
              <a:t>Vector Database (FAISS/Chroma)</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rPr>
              <a:t>Stores embeddings for fast semantic search and retrieval.</a:t>
            </a:r>
            <a:endParaRPr>
              <a:solidFill>
                <a:schemeClr val="dk1"/>
              </a:solidFill>
            </a:endParaRPr>
          </a:p>
          <a:p>
            <a:pPr indent="0" lvl="0" marL="0" rtl="0" algn="l">
              <a:lnSpc>
                <a:spcPct val="115000"/>
              </a:lnSpc>
              <a:spcBef>
                <a:spcPts val="1400"/>
              </a:spcBef>
              <a:spcAft>
                <a:spcPts val="0"/>
              </a:spcAft>
              <a:buNone/>
            </a:pPr>
            <a:r>
              <a:rPr b="1" lang="en-US" sz="1600">
                <a:solidFill>
                  <a:schemeClr val="dk1"/>
                </a:solidFill>
              </a:rPr>
              <a:t>Social Media APIs</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rPr>
              <a:t>Collects data from </a:t>
            </a:r>
            <a:r>
              <a:rPr b="1" lang="en-US">
                <a:solidFill>
                  <a:schemeClr val="dk1"/>
                </a:solidFill>
              </a:rPr>
              <a:t>X, LinkedIn, Instagram, and Facebook</a:t>
            </a:r>
            <a:r>
              <a:rPr lang="en-US">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US" sz="1600">
                <a:solidFill>
                  <a:schemeClr val="dk1"/>
                </a:solidFill>
              </a:rPr>
              <a:t>Analytics Dashboard (Streamlit/React)</a:t>
            </a:r>
            <a:endParaRPr b="1" sz="19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rPr>
              <a:t>Visualizes engagement, sentiment, trends, and campaign performance.</a:t>
            </a:r>
            <a:endParaRPr>
              <a:solidFill>
                <a:schemeClr val="dk1"/>
              </a:solidFill>
            </a:endParaRPr>
          </a:p>
          <a:p>
            <a:pPr indent="0" lvl="0" marL="457200" marR="0" rtl="0" algn="l">
              <a:lnSpc>
                <a:spcPct val="100000"/>
              </a:lnSpc>
              <a:spcBef>
                <a:spcPts val="120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Required Files created using IBM bob -</a:t>
            </a:r>
            <a:endParaRPr b="1" i="0" sz="2400" u="none" cap="none" strike="noStrike">
              <a:solidFill>
                <a:srgbClr val="000000"/>
              </a:solidFill>
              <a:latin typeface="Arial"/>
              <a:ea typeface="Arial"/>
              <a:cs typeface="Arial"/>
              <a:sym typeface="Arial"/>
            </a:endParaRPr>
          </a:p>
        </p:txBody>
      </p:sp>
      <p:sp>
        <p:nvSpPr>
          <p:cNvPr id="126" name="Google Shape;126;p3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7" name="Google Shape;127;p3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8" name="Google Shape;128;p3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9" name="Google Shape;129;p3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30" name="Google Shape;130;p3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31" name="Google Shape;131;p3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32" name="Google Shape;132;p37"/>
          <p:cNvSpPr txBox="1"/>
          <p:nvPr/>
        </p:nvSpPr>
        <p:spPr>
          <a:xfrm>
            <a:off x="474822" y="863187"/>
            <a:ext cx="8823960" cy="4739759"/>
          </a:xfrm>
          <a:prstGeom prst="rect">
            <a:avLst/>
          </a:prstGeom>
          <a:noFill/>
          <a:ln>
            <a:noFill/>
          </a:ln>
        </p:spPr>
        <p:txBody>
          <a:bodyPr anchorCtr="0" anchor="t" bIns="45700" lIns="91425" spcFirstLastPara="1" rIns="91425" wrap="square" tIns="45700">
            <a:spAutoFit/>
          </a:bodyPr>
          <a:lstStyle/>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App.py</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Requirements.txt</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Style.css </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.env</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Index.html</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3" name="Google Shape;133;p37"/>
          <p:cNvSpPr/>
          <p:nvPr/>
        </p:nvSpPr>
        <p:spPr>
          <a:xfrm>
            <a:off x="4250700" y="2029968"/>
            <a:ext cx="5908284" cy="317232"/>
          </a:xfrm>
          <a:prstGeom prst="rect">
            <a:avLst/>
          </a:prstGeom>
          <a:solidFill>
            <a:srgbClr val="E71224">
              <a:alpha val="5098"/>
            </a:srgbClr>
          </a:solidFill>
          <a:ln cap="flat" cmpd="sng" w="72000">
            <a:solidFill>
              <a:srgbClr val="E7122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E71224"/>
              </a:solidFill>
              <a:latin typeface="Arial"/>
              <a:ea typeface="Arial"/>
              <a:cs typeface="Arial"/>
              <a:sym typeface="Arial"/>
            </a:endParaRPr>
          </a:p>
        </p:txBody>
      </p:sp>
      <p:sp>
        <p:nvSpPr>
          <p:cNvPr id="134" name="Google Shape;134;p37"/>
          <p:cNvSpPr/>
          <p:nvPr/>
        </p:nvSpPr>
        <p:spPr>
          <a:xfrm rot="8280234">
            <a:off x="7719727" y="1520573"/>
            <a:ext cx="923544" cy="338328"/>
          </a:xfrm>
          <a:prstGeom prst="rightArrow">
            <a:avLst>
              <a:gd fmla="val 50000" name="adj1"/>
              <a:gd fmla="val 50000" name="adj2"/>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35" name="Google Shape;135;p37"/>
          <p:cNvPicPr preferRelativeResize="0"/>
          <p:nvPr/>
        </p:nvPicPr>
        <p:blipFill>
          <a:blip r:embed="rId3">
            <a:alphaModFix/>
          </a:blip>
          <a:stretch>
            <a:fillRect/>
          </a:stretch>
        </p:blipFill>
        <p:spPr>
          <a:xfrm>
            <a:off x="3586551" y="1104900"/>
            <a:ext cx="8038726" cy="4648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8"/>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51D3A"/>
                </a:solidFill>
                <a:latin typeface="Times New Roman"/>
                <a:ea typeface="Times New Roman"/>
                <a:cs typeface="Times New Roman"/>
                <a:sym typeface="Times New Roman"/>
              </a:rPr>
              <a:t>IBM Bob Screenshots:</a:t>
            </a:r>
            <a:endParaRPr b="1" i="0" sz="2400" u="none" cap="none" strike="noStrike">
              <a:solidFill>
                <a:srgbClr val="000000"/>
              </a:solidFill>
              <a:latin typeface="Arial"/>
              <a:ea typeface="Arial"/>
              <a:cs typeface="Arial"/>
              <a:sym typeface="Arial"/>
            </a:endParaRPr>
          </a:p>
        </p:txBody>
      </p:sp>
      <p:pic>
        <p:nvPicPr>
          <p:cNvPr id="141" name="Google Shape;141;p38"/>
          <p:cNvPicPr preferRelativeResize="0"/>
          <p:nvPr/>
        </p:nvPicPr>
        <p:blipFill>
          <a:blip r:embed="rId3">
            <a:alphaModFix/>
          </a:blip>
          <a:stretch>
            <a:fillRect/>
          </a:stretch>
        </p:blipFill>
        <p:spPr>
          <a:xfrm>
            <a:off x="2878100" y="1026875"/>
            <a:ext cx="8820874" cy="55197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39"/>
          <p:cNvPicPr preferRelativeResize="0"/>
          <p:nvPr/>
        </p:nvPicPr>
        <p:blipFill>
          <a:blip r:embed="rId3">
            <a:alphaModFix/>
          </a:blip>
          <a:stretch>
            <a:fillRect/>
          </a:stretch>
        </p:blipFill>
        <p:spPr>
          <a:xfrm>
            <a:off x="152400" y="152400"/>
            <a:ext cx="11650133" cy="655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9"/>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52" name="Google Shape;152;p9"/>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53" name="Google Shape;153;p9"/>
          <p:cNvSpPr txBox="1"/>
          <p:nvPr/>
        </p:nvSpPr>
        <p:spPr>
          <a:xfrm>
            <a:off x="621792" y="1167493"/>
            <a:ext cx="7406700" cy="4098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0"/>
              </a:spcAft>
              <a:buClr>
                <a:schemeClr val="dk1"/>
              </a:buClr>
              <a:buSzPts val="1100"/>
              <a:buFont typeface="Arial"/>
              <a:buNone/>
            </a:pPr>
            <a:r>
              <a:rPr b="1" lang="en-US" sz="1800">
                <a:solidFill>
                  <a:schemeClr val="dk1"/>
                </a:solidFill>
              </a:rPr>
              <a:t>Role of Agentic AI in Social Media Agent</a:t>
            </a:r>
            <a:endParaRPr b="1"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Agentic AI enables the Social Media Agent to function as an autonomous digital marketing assistant rather than a traditional chatbot.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Each specialized agent performs an independent task while collaborating with other agents.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The agents</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US" sz="1200">
                <a:solidFill>
                  <a:schemeClr val="dk1"/>
                </a:solidFill>
              </a:rPr>
              <a:t>Collect live social media data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Generate creative content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Analyze customer sentiment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Track competitors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Predict trending hashtags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Recommend posting schedules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Agentic AI continuously learns from changing trends and adapts recommendations in real time, enabling businesses to improve engagement and marketing performance.</a:t>
            </a:r>
            <a:endParaRPr sz="1200">
              <a:solidFill>
                <a:schemeClr val="dk1"/>
              </a:solidFill>
            </a:endParaRPr>
          </a:p>
          <a:p>
            <a:pPr indent="0" lvl="0" marL="0" marR="0" rtl="0" algn="l">
              <a:lnSpc>
                <a:spcPct val="100000"/>
              </a:lnSpc>
              <a:spcBef>
                <a:spcPts val="1200"/>
              </a:spcBef>
              <a:spcAft>
                <a:spcPts val="0"/>
              </a:spcAft>
              <a:buNone/>
            </a:pPr>
            <a:r>
              <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f827b20e55_0_17"/>
          <p:cNvSpPr txBox="1"/>
          <p:nvPr>
            <p:ph type="title"/>
          </p:nvPr>
        </p:nvSpPr>
        <p:spPr>
          <a:xfrm>
            <a:off x="838200" y="365125"/>
            <a:ext cx="10515600" cy="5553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Token Usage</a:t>
            </a:r>
            <a:endParaRPr/>
          </a:p>
        </p:txBody>
      </p:sp>
      <p:sp>
        <p:nvSpPr>
          <p:cNvPr id="159" name="Google Shape;159;g3f827b20e55_0_17"/>
          <p:cNvSpPr txBox="1"/>
          <p:nvPr>
            <p:ph idx="1" type="body"/>
          </p:nvPr>
        </p:nvSpPr>
        <p:spPr>
          <a:xfrm>
            <a:off x="165375" y="988850"/>
            <a:ext cx="11188500" cy="553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1900"/>
              <a:t>919 tokens are used</a:t>
            </a:r>
            <a:endParaRPr sz="1900"/>
          </a:p>
          <a:p>
            <a:pPr indent="0" lvl="0" marL="0" rtl="0" algn="l">
              <a:spcBef>
                <a:spcPts val="1000"/>
              </a:spcBef>
              <a:spcAft>
                <a:spcPts val="0"/>
              </a:spcAft>
              <a:buNone/>
            </a:pPr>
            <a:r>
              <a:rPr lang="en-US"/>
              <a:t>Before Prompt										After</a:t>
            </a:r>
            <a:r>
              <a:rPr lang="en-US"/>
              <a:t> Prompt</a:t>
            </a:r>
            <a:endParaRPr/>
          </a:p>
        </p:txBody>
      </p:sp>
      <p:pic>
        <p:nvPicPr>
          <p:cNvPr id="160" name="Google Shape;160;g3f827b20e55_0_17" title="Screenshot 2026-07-16 110822.png"/>
          <p:cNvPicPr preferRelativeResize="0"/>
          <p:nvPr/>
        </p:nvPicPr>
        <p:blipFill>
          <a:blip r:embed="rId3">
            <a:alphaModFix/>
          </a:blip>
          <a:stretch>
            <a:fillRect/>
          </a:stretch>
        </p:blipFill>
        <p:spPr>
          <a:xfrm>
            <a:off x="309825" y="2243350"/>
            <a:ext cx="5010450" cy="3742751"/>
          </a:xfrm>
          <a:prstGeom prst="rect">
            <a:avLst/>
          </a:prstGeom>
          <a:noFill/>
          <a:ln>
            <a:noFill/>
          </a:ln>
        </p:spPr>
      </p:pic>
      <p:pic>
        <p:nvPicPr>
          <p:cNvPr id="161" name="Google Shape;161;g3f827b20e55_0_17" title="Screenshot 2026-07-16 111056.png"/>
          <p:cNvPicPr preferRelativeResize="0"/>
          <p:nvPr/>
        </p:nvPicPr>
        <p:blipFill>
          <a:blip r:embed="rId4">
            <a:alphaModFix/>
          </a:blip>
          <a:stretch>
            <a:fillRect/>
          </a:stretch>
        </p:blipFill>
        <p:spPr>
          <a:xfrm>
            <a:off x="6050175" y="2243350"/>
            <a:ext cx="5200526" cy="3795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1"/>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67" name="Google Shape;167;p4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8" name="Google Shape;168;p4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9" name="Google Shape;169;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0" name="Google Shape;170;p41"/>
          <p:cNvSpPr txBox="1"/>
          <p:nvPr/>
        </p:nvSpPr>
        <p:spPr>
          <a:xfrm>
            <a:off x="1335024" y="1865376"/>
            <a:ext cx="68339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71" name="Google Shape;171;p41"/>
          <p:cNvPicPr preferRelativeResize="0"/>
          <p:nvPr/>
        </p:nvPicPr>
        <p:blipFill>
          <a:blip r:embed="rId3">
            <a:alphaModFix/>
          </a:blip>
          <a:stretch>
            <a:fillRect/>
          </a:stretch>
        </p:blipFill>
        <p:spPr>
          <a:xfrm>
            <a:off x="821100" y="875482"/>
            <a:ext cx="10238826" cy="525081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2"/>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77" name="Google Shape;177;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8" name="Google Shape;178;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9" name="Google Shape;179;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0" name="Google Shape;180;p42"/>
          <p:cNvSpPr txBox="1"/>
          <p:nvPr/>
        </p:nvSpPr>
        <p:spPr>
          <a:xfrm>
            <a:off x="1335024" y="1865376"/>
            <a:ext cx="68339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81" name="Google Shape;181;p42"/>
          <p:cNvPicPr preferRelativeResize="0"/>
          <p:nvPr/>
        </p:nvPicPr>
        <p:blipFill>
          <a:blip r:embed="rId3">
            <a:alphaModFix/>
          </a:blip>
          <a:stretch>
            <a:fillRect/>
          </a:stretch>
        </p:blipFill>
        <p:spPr>
          <a:xfrm>
            <a:off x="1001700" y="783575"/>
            <a:ext cx="9990502" cy="5322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43"/>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87" name="Google Shape;187;p43"/>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8" name="Google Shape;188;p43"/>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9" name="Google Shape;189;p43"/>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0" name="Google Shape;190;p43"/>
          <p:cNvSpPr txBox="1"/>
          <p:nvPr/>
        </p:nvSpPr>
        <p:spPr>
          <a:xfrm>
            <a:off x="1335024" y="1865376"/>
            <a:ext cx="68339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91" name="Google Shape;191;p43"/>
          <p:cNvPicPr preferRelativeResize="0"/>
          <p:nvPr/>
        </p:nvPicPr>
        <p:blipFill>
          <a:blip r:embed="rId3">
            <a:alphaModFix/>
          </a:blip>
          <a:stretch>
            <a:fillRect/>
          </a:stretch>
        </p:blipFill>
        <p:spPr>
          <a:xfrm>
            <a:off x="880050" y="950825"/>
            <a:ext cx="10378249" cy="5116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4"/>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97" name="Google Shape;197;p44"/>
          <p:cNvSpPr txBox="1"/>
          <p:nvPr/>
        </p:nvSpPr>
        <p:spPr>
          <a:xfrm>
            <a:off x="777240" y="1207008"/>
            <a:ext cx="11301900" cy="447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800">
                <a:solidFill>
                  <a:schemeClr val="dk1"/>
                </a:solidFill>
              </a:rPr>
              <a:t>Multi-Agent AI</a:t>
            </a:r>
            <a:r>
              <a:rPr lang="en-US" sz="1800">
                <a:solidFill>
                  <a:schemeClr val="dk1"/>
                </a:solidFill>
              </a:rPr>
              <a:t> – Specialized agents collaborate to automate social media tasks.</a:t>
            </a:r>
            <a:endParaRPr sz="1800">
              <a:solidFill>
                <a:schemeClr val="dk1"/>
              </a:solidFill>
            </a:endParaRPr>
          </a:p>
          <a:p>
            <a:pPr indent="-342900" lvl="0" marL="457200" rtl="0" algn="l">
              <a:lnSpc>
                <a:spcPct val="115000"/>
              </a:lnSpc>
              <a:spcBef>
                <a:spcPts val="1200"/>
              </a:spcBef>
              <a:spcAft>
                <a:spcPts val="0"/>
              </a:spcAft>
              <a:buClr>
                <a:schemeClr val="dk1"/>
              </a:buClr>
              <a:buSzPts val="1800"/>
              <a:buChar char="●"/>
            </a:pPr>
            <a:r>
              <a:rPr b="1" lang="en-US" sz="1800">
                <a:solidFill>
                  <a:schemeClr val="dk1"/>
                </a:solidFill>
              </a:rPr>
              <a:t>Cross-Platform Analysis</a:t>
            </a:r>
            <a:r>
              <a:rPr lang="en-US" sz="1800">
                <a:solidFill>
                  <a:schemeClr val="dk1"/>
                </a:solidFill>
              </a:rPr>
              <a:t> – Collects insights from X, LinkedIn, Instagram, and Facebook.</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Predictive Analytics</a:t>
            </a:r>
            <a:r>
              <a:rPr lang="en-US" sz="1800">
                <a:solidFill>
                  <a:schemeClr val="dk1"/>
                </a:solidFill>
              </a:rPr>
              <a:t> – Forecasts trending hashtags and audience engagement.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Sentiment Intelligence</a:t>
            </a:r>
            <a:r>
              <a:rPr lang="en-US" sz="1800">
                <a:solidFill>
                  <a:schemeClr val="dk1"/>
                </a:solidFill>
              </a:rPr>
              <a:t> – Tracks customer opinions in real time.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Multimodal Support</a:t>
            </a:r>
            <a:r>
              <a:rPr lang="en-US" sz="1800">
                <a:solidFill>
                  <a:schemeClr val="dk1"/>
                </a:solidFill>
              </a:rPr>
              <a:t> – Accepts text, image, and voice inputs.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Competitor Monitoring</a:t>
            </a:r>
            <a:r>
              <a:rPr lang="en-US" sz="1800">
                <a:solidFill>
                  <a:schemeClr val="dk1"/>
                </a:solidFill>
              </a:rPr>
              <a:t> – Analyzes competitor strategies and performance.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Smart Recommendations</a:t>
            </a:r>
            <a:r>
              <a:rPr lang="en-US" sz="1800">
                <a:solidFill>
                  <a:schemeClr val="dk1"/>
                </a:solidFill>
              </a:rPr>
              <a:t> – Suggests the best posting time and content strategy.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Interactive Dashboard</a:t>
            </a:r>
            <a:r>
              <a:rPr lang="en-US" sz="1800">
                <a:solidFill>
                  <a:schemeClr val="dk1"/>
                </a:solidFill>
              </a:rPr>
              <a:t> – Displays real-time analytics and campaign performance.</a:t>
            </a:r>
            <a:endParaRPr sz="18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b="1"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rPr>
              <a:t>"An intelligent AI companion that transforms social media management through automation, prediction, and real-time insights."</a:t>
            </a:r>
            <a:endParaRPr b="1" sz="1800">
              <a:solidFill>
                <a:schemeClr val="dk1"/>
              </a:solidFill>
            </a:endParaRPr>
          </a:p>
          <a:p>
            <a:pPr indent="0" lvl="0" marL="0" marR="0" rtl="0" algn="l">
              <a:lnSpc>
                <a:spcPct val="100000"/>
              </a:lnSpc>
              <a:spcBef>
                <a:spcPts val="1200"/>
              </a:spcBef>
              <a:spcAft>
                <a:spcPts val="0"/>
              </a:spcAft>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5"/>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203" name="Google Shape;203;p45"/>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lang="en-US" sz="1850" u="sng">
                <a:solidFill>
                  <a:schemeClr val="hlink"/>
                </a:solidFill>
                <a:latin typeface="Times New Roman"/>
                <a:ea typeface="Times New Roman"/>
                <a:cs typeface="Times New Roman"/>
                <a:sym typeface="Times New Roman"/>
                <a:hlinkClick r:id="rId3"/>
              </a:rPr>
              <a:t>https://github.com/mamatharamesh1623/Social_Media_Agent</a:t>
            </a:r>
            <a:r>
              <a:rPr lang="en-US" sz="1850">
                <a:solidFill>
                  <a:srgbClr val="2B3541"/>
                </a:solidFill>
                <a:latin typeface="Times New Roman"/>
                <a:ea typeface="Times New Roman"/>
                <a:cs typeface="Times New Roman"/>
                <a:sym typeface="Times New Roman"/>
              </a:rPr>
              <a:t> </a:t>
            </a:r>
            <a:endParaRPr sz="1850">
              <a:solidFill>
                <a:srgbClr val="2B3541"/>
              </a:solidFill>
              <a:latin typeface="Times New Roman"/>
              <a:ea typeface="Times New Roman"/>
              <a:cs typeface="Times New Roman"/>
              <a:sym typeface="Times New Roman"/>
            </a:endParaRPr>
          </a:p>
        </p:txBody>
      </p:sp>
      <p:sp>
        <p:nvSpPr>
          <p:cNvPr id="204" name="Google Shape;204;p45"/>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05" name="Google Shape;205;p45"/>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206" name="Google Shape;206;p45"/>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6"/>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212" name="Google Shape;212;p46"/>
          <p:cNvSpPr/>
          <p:nvPr/>
        </p:nvSpPr>
        <p:spPr>
          <a:xfrm>
            <a:off x="978900" y="1176100"/>
            <a:ext cx="9123600" cy="5089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1. AI Video &amp; Reel Generation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Automatically create promotional videos and reels.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2. Influencer Collaboration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Recommend influencers based on audience demographics.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3. Marketing ROI Prediction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Predict campaign success before publishing.</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4. Multilingual Content Generation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Generate posts in multiple languages.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5. Automatic Campaign Optimization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Continuously improve campaigns based on engagement analytics.</a:t>
            </a:r>
            <a:endParaRPr sz="1100">
              <a:solidFill>
                <a:schemeClr val="dk1"/>
              </a:solidFill>
            </a:endParaRPr>
          </a:p>
          <a:p>
            <a:pPr indent="0" lvl="0" marL="0" marR="0" rtl="0" algn="l">
              <a:lnSpc>
                <a:spcPct val="162162"/>
              </a:lnSpc>
              <a:spcBef>
                <a:spcPts val="1200"/>
              </a:spcBef>
              <a:spcAft>
                <a:spcPts val="0"/>
              </a:spcAft>
              <a:buClr>
                <a:srgbClr val="2B3541"/>
              </a:buClr>
              <a:buSzPts val="1850"/>
              <a:buFont typeface="Times New Roman"/>
              <a:buNone/>
            </a:pPr>
            <a:r>
              <a:t/>
            </a:r>
            <a:endParaRPr b="1" sz="1850">
              <a:solidFill>
                <a:srgbClr val="2B354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7"/>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8" name="Google Shape;218;p47"/>
          <p:cNvSpPr txBox="1"/>
          <p:nvPr/>
        </p:nvSpPr>
        <p:spPr>
          <a:xfrm>
            <a:off x="552048" y="690061"/>
            <a:ext cx="638996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Please  add your credly certificate </a:t>
            </a:r>
            <a:endParaRPr/>
          </a:p>
        </p:txBody>
      </p:sp>
      <p:pic>
        <p:nvPicPr>
          <p:cNvPr id="219" name="Google Shape;219;p47"/>
          <p:cNvPicPr preferRelativeResize="0"/>
          <p:nvPr/>
        </p:nvPicPr>
        <p:blipFill>
          <a:blip r:embed="rId3">
            <a:alphaModFix/>
          </a:blip>
          <a:stretch>
            <a:fillRect/>
          </a:stretch>
        </p:blipFill>
        <p:spPr>
          <a:xfrm>
            <a:off x="1602350" y="1365675"/>
            <a:ext cx="10188175" cy="5339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8"/>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48"/>
          <p:cNvSpPr txBox="1"/>
          <p:nvPr/>
        </p:nvSpPr>
        <p:spPr>
          <a:xfrm>
            <a:off x="496843" y="800470"/>
            <a:ext cx="54376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Add your IBM BOB Certificate</a:t>
            </a:r>
            <a:endParaRPr/>
          </a:p>
        </p:txBody>
      </p:sp>
      <p:pic>
        <p:nvPicPr>
          <p:cNvPr id="226" name="Google Shape;226;p48"/>
          <p:cNvPicPr preferRelativeResize="0"/>
          <p:nvPr/>
        </p:nvPicPr>
        <p:blipFill>
          <a:blip r:embed="rId3">
            <a:alphaModFix/>
          </a:blip>
          <a:stretch>
            <a:fillRect/>
          </a:stretch>
        </p:blipFill>
        <p:spPr>
          <a:xfrm>
            <a:off x="2007550" y="1505380"/>
            <a:ext cx="8093226" cy="53526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